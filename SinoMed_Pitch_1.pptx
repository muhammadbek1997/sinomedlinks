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61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85241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EF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69382"/>
          </a:solidFill>
          <a:ln w="12700">
            <a:solidFill>
              <a:srgbClr val="769382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769382"/>
          </a:solidFill>
          <a:ln w="12700">
            <a:solidFill>
              <a:srgbClr val="769382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693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Pitch Day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6E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SinoMed.AI </a:t>
            </a:r>
            <a:r>
              <a:rPr lang="en-US" sz="2400" dirty="0" err="1">
                <a:solidFill>
                  <a:srgbClr val="6E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ilovasi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980592"/>
            <a:ext cx="82296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8C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Z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54864"/>
          </a:xfrm>
          <a:prstGeom prst="rect">
            <a:avLst/>
          </a:prstGeom>
          <a:solidFill>
            <a:srgbClr val="769382"/>
          </a:solidFill>
          <a:ln w="12700">
            <a:solidFill>
              <a:srgbClr val="769382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0" name="Text 8"/>
          <p:cNvSpPr/>
          <p:nvPr/>
        </p:nvSpPr>
        <p:spPr>
          <a:xfrm>
            <a:off x="3017520" y="141732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E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SinoMed.AI</a:t>
            </a:r>
            <a:endParaRPr lang="en-US" sz="3800" dirty="0"/>
          </a:p>
        </p:txBody>
      </p:sp>
      <p:sp>
        <p:nvSpPr>
          <p:cNvPr id="11" name="Shape 9"/>
          <p:cNvSpPr/>
          <p:nvPr/>
        </p:nvSpPr>
        <p:spPr>
          <a:xfrm>
            <a:off x="3017520" y="2240280"/>
            <a:ext cx="5303520" cy="54864"/>
          </a:xfrm>
          <a:prstGeom prst="rect">
            <a:avLst/>
          </a:prstGeom>
          <a:solidFill>
            <a:srgbClr val="769382"/>
          </a:solidFill>
          <a:ln w="12700">
            <a:solidFill>
              <a:srgbClr val="769382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2" name="Text 10"/>
          <p:cNvSpPr/>
          <p:nvPr/>
        </p:nvSpPr>
        <p:spPr>
          <a:xfrm>
            <a:off x="3017520" y="237744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E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asosida bemorni skrining qilib, xavfli belgilarni aniqlaydigan va kerakli shifokorga yo‘naltiruvchi platforma.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46634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693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0" y="4736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75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#MilliyAIXakaton  2026</a:t>
            </a:r>
            <a:endParaRPr lang="en-US" sz="900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7AB221AF-96D7-483A-B240-7FF0950A0D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30205"/>
            <a:ext cx="2483893" cy="25622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F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769382">
              <a:alpha val="15000"/>
            </a:srgbClr>
          </a:solidFill>
          <a:ln w="12700">
            <a:solidFill>
              <a:srgbClr val="769382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" name="Text 1"/>
          <p:cNvSpPr/>
          <p:nvPr/>
        </p:nvSpPr>
        <p:spPr>
          <a:xfrm>
            <a:off x="8321040" y="1371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7693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 kimmiz?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54864" cy="411480"/>
          </a:xfrm>
          <a:prstGeom prst="rect">
            <a:avLst/>
          </a:prstGeom>
          <a:solidFill>
            <a:srgbClr val="769382"/>
          </a:solidFill>
          <a:ln w="12700">
            <a:solidFill>
              <a:srgbClr val="769382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6" name="Text 4"/>
          <p:cNvSpPr/>
          <p:nvPr/>
        </p:nvSpPr>
        <p:spPr>
          <a:xfrm>
            <a:off x="594360" y="6858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E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SinoMed.AI bemordan tibbiy ma‘lumotlarni yig‘adi, xavfli belgilarni aniqlaydi va eng mos shifokorga yo‘naltiradi.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2926080" cy="3200400"/>
          </a:xfrm>
          <a:prstGeom prst="rect">
            <a:avLst/>
          </a:prstGeom>
          <a:solidFill>
            <a:srgbClr val="E7EEE6"/>
          </a:solidFill>
          <a:ln w="12700">
            <a:solidFill>
              <a:srgbClr val="D2D8CE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2926080" cy="54864"/>
          </a:xfrm>
          <a:prstGeom prst="rect">
            <a:avLst/>
          </a:prstGeom>
          <a:solidFill>
            <a:srgbClr val="769382"/>
          </a:solidFill>
          <a:ln w="12700">
            <a:solidFill>
              <a:srgbClr val="769382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1" name="Shape 9"/>
          <p:cNvSpPr/>
          <p:nvPr/>
        </p:nvSpPr>
        <p:spPr>
          <a:xfrm>
            <a:off x="3566160" y="1234440"/>
            <a:ext cx="53035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8C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12" name="Shape 10"/>
          <p:cNvSpPr/>
          <p:nvPr/>
        </p:nvSpPr>
        <p:spPr>
          <a:xfrm>
            <a:off x="3566160" y="1234440"/>
            <a:ext cx="54864" cy="3200400"/>
          </a:xfrm>
          <a:prstGeom prst="rect">
            <a:avLst/>
          </a:prstGeom>
          <a:solidFill>
            <a:srgbClr val="769382"/>
          </a:solidFill>
          <a:ln w="12700">
            <a:solidFill>
              <a:srgbClr val="769382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3" name="Text 11"/>
          <p:cNvSpPr/>
          <p:nvPr/>
        </p:nvSpPr>
        <p:spPr>
          <a:xfrm>
            <a:off x="3749040" y="141732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Mahsulot qanday ishlaydi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749040" y="1920240"/>
            <a:ext cx="4937760" cy="36576"/>
          </a:xfrm>
          <a:prstGeom prst="rect">
            <a:avLst/>
          </a:prstGeom>
          <a:solidFill>
            <a:srgbClr val="D2D8CE"/>
          </a:solidFill>
          <a:ln w="12700">
            <a:solidFill>
              <a:srgbClr val="D2D8CE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5" name="Text 13"/>
          <p:cNvSpPr/>
          <p:nvPr/>
        </p:nvSpPr>
        <p:spPr>
          <a:xfrm>
            <a:off x="3749040" y="2057400"/>
            <a:ext cx="49377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E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Bemor simptomlarini kiritadi va AI strukturali elektron anketani avtomatik to‘ldiradi.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E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simptomlarni tahlil qilib, xavf darajasini va to'g'ri tibbiy yo'nalishni aniqlaydi.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E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Bemor kerakli mutaxassisga yo'naltiriladi; shifokor xulosasidan keyin anketa yangilanadi. Operator panelda statistikani ko'radi.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663440"/>
            <a:ext cx="82296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6E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Ikki tomonlama platforma: bemor uchun skrining, klinika uchun mijoz analitikasi paneli.</a:t>
            </a:r>
            <a:endParaRPr lang="en-US" sz="950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C61C3E8-0ECE-46D7-A4CC-A790A6660F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03019"/>
            <a:ext cx="2924455" cy="29169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F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769382">
              <a:alpha val="15000"/>
            </a:srgbClr>
          </a:solidFill>
          <a:ln w="12700">
            <a:solidFill>
              <a:srgbClr val="769382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" name="Text 1"/>
          <p:cNvSpPr/>
          <p:nvPr/>
        </p:nvSpPr>
        <p:spPr>
          <a:xfrm>
            <a:off x="8321040" y="1371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7693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 hal qilayotgan muammo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54864" cy="365760"/>
          </a:xfrm>
          <a:prstGeom prst="rect">
            <a:avLst/>
          </a:prstGeom>
          <a:solidFill>
            <a:srgbClr val="769382"/>
          </a:solidFill>
          <a:ln w="12700">
            <a:solidFill>
              <a:srgbClr val="769382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6" name="Text 4"/>
          <p:cNvSpPr/>
          <p:nvPr/>
        </p:nvSpPr>
        <p:spPr>
          <a:xfrm>
            <a:off x="594360" y="685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E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Bemor qaysi shifokorga borishni bilmaydi, ma'lumotlari esa har joyda tarqoq qoladi.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207008"/>
            <a:ext cx="3200400" cy="3200400"/>
          </a:xfrm>
          <a:prstGeom prst="rect">
            <a:avLst/>
          </a:prstGeom>
          <a:solidFill>
            <a:srgbClr val="E7EEE6"/>
          </a:solidFill>
          <a:ln w="12700">
            <a:solidFill>
              <a:srgbClr val="D2D8CE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3200400" cy="54864"/>
          </a:xfrm>
          <a:prstGeom prst="rect">
            <a:avLst/>
          </a:prstGeom>
          <a:solidFill>
            <a:srgbClr val="769382"/>
          </a:solidFill>
          <a:ln w="12700">
            <a:solidFill>
              <a:srgbClr val="769382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9" name="Shape 7"/>
          <p:cNvSpPr/>
          <p:nvPr/>
        </p:nvSpPr>
        <p:spPr>
          <a:xfrm>
            <a:off x="685800" y="1828800"/>
            <a:ext cx="2743200" cy="1371600"/>
          </a:xfrm>
          <a:prstGeom prst="rect">
            <a:avLst/>
          </a:prstGeom>
          <a:solidFill>
            <a:srgbClr val="769382">
              <a:alpha val="85000"/>
            </a:srgbClr>
          </a:solidFill>
          <a:ln w="12700">
            <a:solidFill>
              <a:srgbClr val="769382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0" name="Text 8"/>
          <p:cNvSpPr/>
          <p:nvPr/>
        </p:nvSpPr>
        <p:spPr>
          <a:xfrm>
            <a:off x="685800" y="18288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E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 bizga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dirty="0" err="1">
                <a:solidFill>
                  <a:srgbClr val="2E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ehtiyoj</a:t>
            </a:r>
            <a:r>
              <a:rPr lang="en-US" sz="1900" b="1" dirty="0">
                <a:solidFill>
                  <a:srgbClr val="2E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900" b="1" dirty="0" err="1">
                <a:solidFill>
                  <a:srgbClr val="2E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</a:t>
            </a:r>
            <a:r>
              <a:rPr lang="en-US" sz="1900" b="1" dirty="0">
                <a:solidFill>
                  <a:srgbClr val="2E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1691640" y="3182112"/>
            <a:ext cx="731520" cy="274320"/>
          </a:xfrm>
          <a:prstGeom prst="rect">
            <a:avLst/>
          </a:prstGeom>
          <a:solidFill>
            <a:srgbClr val="769382"/>
          </a:solidFill>
          <a:ln w="12700">
            <a:solidFill>
              <a:srgbClr val="769382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2" name="Shape 10"/>
          <p:cNvSpPr/>
          <p:nvPr/>
        </p:nvSpPr>
        <p:spPr>
          <a:xfrm>
            <a:off x="3840480" y="1207008"/>
            <a:ext cx="5029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8C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13" name="Shape 11"/>
          <p:cNvSpPr/>
          <p:nvPr/>
        </p:nvSpPr>
        <p:spPr>
          <a:xfrm>
            <a:off x="3840480" y="1207008"/>
            <a:ext cx="54864" cy="1417320"/>
          </a:xfrm>
          <a:prstGeom prst="rect">
            <a:avLst/>
          </a:prstGeom>
          <a:solidFill>
            <a:srgbClr val="769382"/>
          </a:solidFill>
          <a:ln w="12700">
            <a:solidFill>
              <a:srgbClr val="769382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5" name="Text 13"/>
          <p:cNvSpPr/>
          <p:nvPr/>
        </p:nvSpPr>
        <p:spPr>
          <a:xfrm>
            <a:off x="3977640" y="1371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434840" y="135331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Noto'g'ri shifokorga murojaat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977640" y="1755648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E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xil simptom turli kasalliklarga tegishli bo'lishi mumkin. Bemor noto'g'ri mutaxassisga boradi, vaqt va mablag' yo'qotadi.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840480" y="2834640"/>
            <a:ext cx="5029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8C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19" name="Shape 17"/>
          <p:cNvSpPr/>
          <p:nvPr/>
        </p:nvSpPr>
        <p:spPr>
          <a:xfrm>
            <a:off x="3840480" y="2834640"/>
            <a:ext cx="54864" cy="1417320"/>
          </a:xfrm>
          <a:prstGeom prst="rect">
            <a:avLst/>
          </a:prstGeom>
          <a:solidFill>
            <a:srgbClr val="769382"/>
          </a:solidFill>
          <a:ln w="12700">
            <a:solidFill>
              <a:srgbClr val="769382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1" name="Text 19"/>
          <p:cNvSpPr/>
          <p:nvPr/>
        </p:nvSpPr>
        <p:spPr>
          <a:xfrm>
            <a:off x="3977640" y="29992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434840" y="2980944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Bemor ma'lumotlari tarqoq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977640" y="338328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E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shifokor anamnezni qaytadan yig'adi. Oldingi xulosalar, simptomlar va tekshiruvlar yagona tizimda saqlanmaydi.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4663440"/>
            <a:ext cx="82296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6E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SinoMed.AI to'g'ri yo'naltirish va yagona bemor anketasi bilan ikkala muammoni ham hal qiladi.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F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769382">
              <a:alpha val="15000"/>
            </a:srgbClr>
          </a:solidFill>
          <a:ln w="12700">
            <a:solidFill>
              <a:srgbClr val="769382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" name="Text 1"/>
          <p:cNvSpPr/>
          <p:nvPr/>
        </p:nvSpPr>
        <p:spPr>
          <a:xfrm>
            <a:off x="8321040" y="1371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7693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Bozor hajmi va maqsadli auditoriya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54864" cy="365760"/>
          </a:xfrm>
          <a:prstGeom prst="rect">
            <a:avLst/>
          </a:prstGeom>
          <a:solidFill>
            <a:srgbClr val="769382"/>
          </a:solidFill>
          <a:ln w="12700">
            <a:solidFill>
              <a:srgbClr val="769382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6" name="Text 4"/>
          <p:cNvSpPr/>
          <p:nvPr/>
        </p:nvSpPr>
        <p:spPr>
          <a:xfrm>
            <a:off x="594360" y="685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E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Skriningga va to'g'ri yo'naltirishga muhtoj bemorlar — O'zbekiston, keyin global bozor.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207008"/>
            <a:ext cx="2926080" cy="3200400"/>
          </a:xfrm>
          <a:prstGeom prst="rect">
            <a:avLst/>
          </a:prstGeom>
          <a:solidFill>
            <a:srgbClr val="E7EEE6"/>
          </a:solidFill>
          <a:ln w="12700">
            <a:solidFill>
              <a:srgbClr val="D2D8CE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2926080" cy="54864"/>
          </a:xfrm>
          <a:prstGeom prst="rect">
            <a:avLst/>
          </a:prstGeom>
          <a:solidFill>
            <a:srgbClr val="769382"/>
          </a:solidFill>
          <a:ln w="12700">
            <a:solidFill>
              <a:srgbClr val="769382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9" name="Shape 7"/>
          <p:cNvSpPr/>
          <p:nvPr/>
        </p:nvSpPr>
        <p:spPr>
          <a:xfrm>
            <a:off x="685800" y="1737360"/>
            <a:ext cx="2468880" cy="1280160"/>
          </a:xfrm>
          <a:prstGeom prst="rect">
            <a:avLst/>
          </a:prstGeom>
          <a:solidFill>
            <a:srgbClr val="769382"/>
          </a:solidFill>
          <a:ln w="12700">
            <a:solidFill>
              <a:srgbClr val="769382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0" name="Text 8"/>
          <p:cNvSpPr/>
          <p:nvPr/>
        </p:nvSpPr>
        <p:spPr>
          <a:xfrm>
            <a:off x="685800" y="173736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Bozor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2E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hajmi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566160" y="1298448"/>
            <a:ext cx="5303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8CE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2" name="Shape 10"/>
          <p:cNvSpPr/>
          <p:nvPr/>
        </p:nvSpPr>
        <p:spPr>
          <a:xfrm>
            <a:off x="3566160" y="1298448"/>
            <a:ext cx="5029200" cy="36576"/>
          </a:xfrm>
          <a:prstGeom prst="rect">
            <a:avLst/>
          </a:prstGeom>
          <a:solidFill>
            <a:srgbClr val="769382"/>
          </a:solidFill>
          <a:ln w="12700">
            <a:solidFill>
              <a:srgbClr val="769382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3" name="Text 11"/>
          <p:cNvSpPr/>
          <p:nvPr/>
        </p:nvSpPr>
        <p:spPr>
          <a:xfrm>
            <a:off x="3703320" y="1389888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693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343400" y="138988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5 </a:t>
            </a:r>
            <a:r>
              <a:rPr lang="en-US" sz="1400" b="1" dirty="0" err="1">
                <a:solidFill>
                  <a:srgbClr val="2E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mingdan</a:t>
            </a:r>
            <a:r>
              <a:rPr lang="en-US" sz="1400" b="1" dirty="0">
                <a:solidFill>
                  <a:srgbClr val="2E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2E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ortiq</a:t>
            </a:r>
            <a:r>
              <a:rPr lang="en-US" sz="1400" b="1" dirty="0">
                <a:solidFill>
                  <a:srgbClr val="2E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2E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xususiy</a:t>
            </a:r>
            <a:r>
              <a:rPr lang="en-US" sz="1400" b="1" dirty="0">
                <a:solidFill>
                  <a:srgbClr val="2E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2E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klinikalar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03320" y="179222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Umumiy mavjud bozor — profilaktik tibbiy skrining va to'g'ri yo'naltirishga </a:t>
            </a:r>
            <a:r>
              <a:rPr lang="en-US" sz="1000" dirty="0" err="1">
                <a:solidFill>
                  <a:srgbClr val="6E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muhtoj</a:t>
            </a:r>
            <a:r>
              <a:rPr lang="en-US" sz="1000" dirty="0">
                <a:solidFill>
                  <a:srgbClr val="6E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6E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barchani</a:t>
            </a:r>
            <a:r>
              <a:rPr lang="en-US" sz="1000" dirty="0">
                <a:solidFill>
                  <a:srgbClr val="6E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6E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qamrab</a:t>
            </a:r>
            <a:r>
              <a:rPr lang="en-US" sz="1000" dirty="0">
                <a:solidFill>
                  <a:srgbClr val="6E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6E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olish</a:t>
            </a:r>
            <a:r>
              <a:rPr lang="en-US" sz="1000" dirty="0">
                <a:solidFill>
                  <a:srgbClr val="6E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566160" y="2304288"/>
            <a:ext cx="5303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8CE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7" name="Shape 15"/>
          <p:cNvSpPr/>
          <p:nvPr/>
        </p:nvSpPr>
        <p:spPr>
          <a:xfrm>
            <a:off x="3566160" y="2304288"/>
            <a:ext cx="4114800" cy="36576"/>
          </a:xfrm>
          <a:prstGeom prst="rect">
            <a:avLst/>
          </a:prstGeom>
          <a:solidFill>
            <a:srgbClr val="C29A4E"/>
          </a:solidFill>
          <a:ln w="12700">
            <a:solidFill>
              <a:srgbClr val="C29A4E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8" name="Text 16"/>
          <p:cNvSpPr/>
          <p:nvPr/>
        </p:nvSpPr>
        <p:spPr>
          <a:xfrm>
            <a:off x="3703320" y="2395728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29A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343400" y="239572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400" b="1" dirty="0" err="1">
                <a:solidFill>
                  <a:srgbClr val="2E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Viloyat</a:t>
            </a:r>
            <a:r>
              <a:rPr lang="en-US" sz="1400" b="1" dirty="0">
                <a:solidFill>
                  <a:srgbClr val="2E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2E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miqyosida</a:t>
            </a:r>
            <a:r>
              <a:rPr lang="en-US" sz="1400" b="1" dirty="0">
                <a:solidFill>
                  <a:srgbClr val="2E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2E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tarmoq</a:t>
            </a:r>
            <a:r>
              <a:rPr lang="en-US" sz="1400" b="1" dirty="0">
                <a:solidFill>
                  <a:srgbClr val="2E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2E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hosil</a:t>
            </a:r>
            <a:r>
              <a:rPr lang="en-US" sz="1400" b="1" dirty="0">
                <a:solidFill>
                  <a:srgbClr val="2E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2E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qilish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703320" y="279806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6E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Asosiy</a:t>
            </a:r>
            <a:r>
              <a:rPr lang="en-US" sz="1000" dirty="0">
                <a:solidFill>
                  <a:srgbClr val="6E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6E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mijozlar</a:t>
            </a:r>
            <a:r>
              <a:rPr lang="en-US" sz="1000" dirty="0">
                <a:solidFill>
                  <a:srgbClr val="6E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6E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bo’lgan</a:t>
            </a:r>
            <a:r>
              <a:rPr lang="en-US" sz="1000" dirty="0">
                <a:solidFill>
                  <a:srgbClr val="6E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6E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xususiy</a:t>
            </a:r>
            <a:r>
              <a:rPr lang="en-US" sz="1000" dirty="0">
                <a:solidFill>
                  <a:srgbClr val="6E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6E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klinikalarni</a:t>
            </a:r>
            <a:r>
              <a:rPr lang="en-US" sz="1000" dirty="0">
                <a:solidFill>
                  <a:srgbClr val="6E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6E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qamrab</a:t>
            </a:r>
            <a:r>
              <a:rPr lang="en-US" sz="1000" dirty="0">
                <a:solidFill>
                  <a:srgbClr val="6E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6E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olish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566160" y="3310128"/>
            <a:ext cx="5303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8CE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2" name="Shape 20"/>
          <p:cNvSpPr/>
          <p:nvPr/>
        </p:nvSpPr>
        <p:spPr>
          <a:xfrm>
            <a:off x="3566160" y="3310128"/>
            <a:ext cx="3200400" cy="36576"/>
          </a:xfrm>
          <a:prstGeom prst="rect">
            <a:avLst/>
          </a:prstGeom>
          <a:solidFill>
            <a:srgbClr val="6FA07E"/>
          </a:solidFill>
          <a:ln w="12700">
            <a:solidFill>
              <a:srgbClr val="6FA07E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3" name="Text 21"/>
          <p:cNvSpPr/>
          <p:nvPr/>
        </p:nvSpPr>
        <p:spPr>
          <a:xfrm>
            <a:off x="3703320" y="3401568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FA0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SOM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343400" y="340156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Hamkor klinikalar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703320" y="380390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Boshlang'ich segment — bemorlarni qabul qiladigan va bir nechta mutaxassis ishlaydigan </a:t>
            </a:r>
            <a:r>
              <a:rPr lang="en-US" sz="1000" dirty="0" err="1">
                <a:solidFill>
                  <a:srgbClr val="6E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klinikalar</a:t>
            </a:r>
            <a:r>
              <a:rPr lang="en-US" sz="1000" dirty="0">
                <a:solidFill>
                  <a:srgbClr val="6E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000" dirty="0" err="1">
                <a:solidFill>
                  <a:srgbClr val="6E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Xususan</a:t>
            </a:r>
            <a:r>
              <a:rPr lang="en-US" sz="1000" dirty="0">
                <a:solidFill>
                  <a:srgbClr val="6E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6E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Yangiyer</a:t>
            </a:r>
            <a:r>
              <a:rPr lang="en-US" sz="1000" dirty="0">
                <a:solidFill>
                  <a:srgbClr val="6E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6E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shaxar</a:t>
            </a:r>
            <a:r>
              <a:rPr lang="en-US" sz="1000" dirty="0">
                <a:solidFill>
                  <a:srgbClr val="6E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“Jamshid </a:t>
            </a:r>
            <a:r>
              <a:rPr lang="en-US" sz="1000" dirty="0" err="1">
                <a:solidFill>
                  <a:srgbClr val="6E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klinikasi</a:t>
            </a:r>
            <a:r>
              <a:rPr lang="en-US" sz="1000" dirty="0">
                <a:solidFill>
                  <a:srgbClr val="6E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617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6E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Boshlang'ich maqsad: 5–10 ta klinikada pilot loyiha va oyiga 10 000+ skrining.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F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769382">
              <a:alpha val="15000"/>
            </a:srgbClr>
          </a:solidFill>
          <a:ln w="12700">
            <a:solidFill>
              <a:srgbClr val="769382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" name="Text 1"/>
          <p:cNvSpPr/>
          <p:nvPr/>
        </p:nvSpPr>
        <p:spPr>
          <a:xfrm>
            <a:off x="8321040" y="1371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7693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Yechim + Raqobatchilar tahlili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54864" cy="365760"/>
          </a:xfrm>
          <a:prstGeom prst="rect">
            <a:avLst/>
          </a:prstGeom>
          <a:solidFill>
            <a:srgbClr val="769382"/>
          </a:solidFill>
          <a:ln w="12700">
            <a:solidFill>
              <a:srgbClr val="769382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6" name="Text 4"/>
          <p:cNvSpPr/>
          <p:nvPr/>
        </p:nvSpPr>
        <p:spPr>
          <a:xfrm>
            <a:off x="594360" y="685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E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 tushunarli skrining, strukturali anketa va klinikaga yo'naltirishni birlashtiramiz.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2286000" cy="457200"/>
          </a:xfrm>
          <a:prstGeom prst="rect">
            <a:avLst/>
          </a:prstGeom>
          <a:solidFill>
            <a:srgbClr val="D2D8CE"/>
          </a:solidFill>
          <a:ln w="12700">
            <a:solidFill>
              <a:srgbClr val="D2D8CE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Xususiyat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0" y="1188720"/>
            <a:ext cx="2103120" cy="457200"/>
          </a:xfrm>
          <a:prstGeom prst="rect">
            <a:avLst/>
          </a:prstGeom>
          <a:solidFill>
            <a:srgbClr val="769382"/>
          </a:solidFill>
          <a:ln w="12700">
            <a:solidFill>
              <a:srgbClr val="D2D8CE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0" name="Text 8"/>
          <p:cNvSpPr/>
          <p:nvPr/>
        </p:nvSpPr>
        <p:spPr>
          <a:xfrm>
            <a:off x="2743200" y="11887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SinoMed.AI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46320" y="1188720"/>
            <a:ext cx="2011680" cy="457200"/>
          </a:xfrm>
          <a:prstGeom prst="rect">
            <a:avLst/>
          </a:prstGeom>
          <a:solidFill>
            <a:srgbClr val="E7EEE6"/>
          </a:solidFill>
          <a:ln w="12700">
            <a:solidFill>
              <a:srgbClr val="D2D8CE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2" name="Text 10"/>
          <p:cNvSpPr/>
          <p:nvPr/>
        </p:nvSpPr>
        <p:spPr>
          <a:xfrm>
            <a:off x="4846320" y="1188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0" y="1188720"/>
            <a:ext cx="2011680" cy="457200"/>
          </a:xfrm>
          <a:prstGeom prst="rect">
            <a:avLst/>
          </a:prstGeom>
          <a:solidFill>
            <a:srgbClr val="E7EEE6"/>
          </a:solidFill>
          <a:ln w="12700">
            <a:solidFill>
              <a:srgbClr val="D2D8CE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4" name="Text 12"/>
          <p:cNvSpPr/>
          <p:nvPr/>
        </p:nvSpPr>
        <p:spPr>
          <a:xfrm>
            <a:off x="6858000" y="1188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DiagnoAI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1645920"/>
            <a:ext cx="22860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2D8CE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6" name="Text 14"/>
          <p:cNvSpPr/>
          <p:nvPr/>
        </p:nvSpPr>
        <p:spPr>
          <a:xfrm>
            <a:off x="457200" y="1645920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screening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0" y="1645920"/>
            <a:ext cx="21031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2D8CE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8" name="Text 16"/>
          <p:cNvSpPr/>
          <p:nvPr/>
        </p:nvSpPr>
        <p:spPr>
          <a:xfrm>
            <a:off x="2743200" y="1645920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FA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846320" y="1645920"/>
            <a:ext cx="20116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2D8CE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0" name="Text 18"/>
          <p:cNvSpPr/>
          <p:nvPr/>
        </p:nvSpPr>
        <p:spPr>
          <a:xfrm>
            <a:off x="4846320" y="1645920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69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858000" y="1645920"/>
            <a:ext cx="20116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2D8CE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2" name="Text 20"/>
          <p:cNvSpPr/>
          <p:nvPr/>
        </p:nvSpPr>
        <p:spPr>
          <a:xfrm>
            <a:off x="6858000" y="1645920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69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57200" y="2212848"/>
            <a:ext cx="2286000" cy="530352"/>
          </a:xfrm>
          <a:prstGeom prst="rect">
            <a:avLst/>
          </a:prstGeom>
          <a:solidFill>
            <a:srgbClr val="F3EFE3"/>
          </a:solidFill>
          <a:ln w="12700">
            <a:solidFill>
              <a:srgbClr val="D2D8CE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4" name="Text 22"/>
          <p:cNvSpPr/>
          <p:nvPr/>
        </p:nvSpPr>
        <p:spPr>
          <a:xfrm>
            <a:off x="457200" y="2212848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Shifokor xulosasidan keyin qayta yo'naltirish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0" y="2212848"/>
            <a:ext cx="2103120" cy="530352"/>
          </a:xfrm>
          <a:prstGeom prst="rect">
            <a:avLst/>
          </a:prstGeom>
          <a:solidFill>
            <a:srgbClr val="F3EFE3"/>
          </a:solidFill>
          <a:ln w="12700">
            <a:solidFill>
              <a:srgbClr val="D2D8CE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6" name="Text 24"/>
          <p:cNvSpPr/>
          <p:nvPr/>
        </p:nvSpPr>
        <p:spPr>
          <a:xfrm>
            <a:off x="2743200" y="2212848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FA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846320" y="2212848"/>
            <a:ext cx="2011680" cy="530352"/>
          </a:xfrm>
          <a:prstGeom prst="rect">
            <a:avLst/>
          </a:prstGeom>
          <a:solidFill>
            <a:srgbClr val="F3EFE3"/>
          </a:solidFill>
          <a:ln w="12700">
            <a:solidFill>
              <a:srgbClr val="D2D8CE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8" name="Text 26"/>
          <p:cNvSpPr/>
          <p:nvPr/>
        </p:nvSpPr>
        <p:spPr>
          <a:xfrm>
            <a:off x="4846320" y="2212848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FA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➖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858000" y="2212848"/>
            <a:ext cx="2011680" cy="530352"/>
          </a:xfrm>
          <a:prstGeom prst="rect">
            <a:avLst/>
          </a:prstGeom>
          <a:solidFill>
            <a:srgbClr val="F3EFE3"/>
          </a:solidFill>
          <a:ln w="12700">
            <a:solidFill>
              <a:srgbClr val="D2D8CE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0" name="Text 28"/>
          <p:cNvSpPr/>
          <p:nvPr/>
        </p:nvSpPr>
        <p:spPr>
          <a:xfrm>
            <a:off x="6858000" y="2212848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69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➖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57200" y="2779776"/>
            <a:ext cx="22860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2D8CE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2" name="Text 30"/>
          <p:cNvSpPr/>
          <p:nvPr/>
        </p:nvSpPr>
        <p:spPr>
          <a:xfrm>
            <a:off x="457200" y="2779776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Klinikadagi mavjud doktorlarga mos routing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743200" y="2779776"/>
            <a:ext cx="21031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2D8CE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4" name="Text 32"/>
          <p:cNvSpPr/>
          <p:nvPr/>
        </p:nvSpPr>
        <p:spPr>
          <a:xfrm>
            <a:off x="2743200" y="2779776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FA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846320" y="2779776"/>
            <a:ext cx="20116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2D8CE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6" name="Text 34"/>
          <p:cNvSpPr/>
          <p:nvPr/>
        </p:nvSpPr>
        <p:spPr>
          <a:xfrm>
            <a:off x="4846320" y="2779776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69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➖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2779776"/>
            <a:ext cx="20116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2D8CE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8" name="Text 36"/>
          <p:cNvSpPr/>
          <p:nvPr/>
        </p:nvSpPr>
        <p:spPr>
          <a:xfrm>
            <a:off x="6858000" y="2779776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FA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/ ➖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457200" y="3319272"/>
            <a:ext cx="8412480" cy="658368"/>
          </a:xfrm>
          <a:prstGeom prst="rect">
            <a:avLst/>
          </a:prstGeom>
          <a:solidFill>
            <a:srgbClr val="E7EEE6"/>
          </a:solidFill>
          <a:ln w="12700">
            <a:solidFill>
              <a:srgbClr val="D2D8CE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8" name="Shape 46"/>
          <p:cNvSpPr/>
          <p:nvPr/>
        </p:nvSpPr>
        <p:spPr>
          <a:xfrm>
            <a:off x="457200" y="3319272"/>
            <a:ext cx="8412480" cy="54864"/>
          </a:xfrm>
          <a:prstGeom prst="rect">
            <a:avLst/>
          </a:prstGeom>
          <a:solidFill>
            <a:srgbClr val="769382"/>
          </a:solidFill>
          <a:ln w="12700">
            <a:solidFill>
              <a:srgbClr val="769382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9" name="Text 47"/>
          <p:cNvSpPr/>
          <p:nvPr/>
        </p:nvSpPr>
        <p:spPr>
          <a:xfrm>
            <a:off x="457200" y="3319272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E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Hozirgi imkoniyatlar:  6 tibbiy modul  ·  203 savol  ·  16 triage qoidasi  ·  10 test ssenariysi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F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769382">
              <a:alpha val="15000"/>
            </a:srgbClr>
          </a:solidFill>
          <a:ln w="12700">
            <a:solidFill>
              <a:srgbClr val="769382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" name="Text 1"/>
          <p:cNvSpPr/>
          <p:nvPr/>
        </p:nvSpPr>
        <p:spPr>
          <a:xfrm>
            <a:off x="8321040" y="1371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7693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Monetizatsiya modeli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54864" cy="365760"/>
          </a:xfrm>
          <a:prstGeom prst="rect">
            <a:avLst/>
          </a:prstGeom>
          <a:solidFill>
            <a:srgbClr val="769382"/>
          </a:solidFill>
          <a:ln w="12700">
            <a:solidFill>
              <a:srgbClr val="769382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6" name="Text 4"/>
          <p:cNvSpPr/>
          <p:nvPr/>
        </p:nvSpPr>
        <p:spPr>
          <a:xfrm>
            <a:off x="594360" y="685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E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Klinikalar uchun oylik obuna — shifokorlar soniga ko'ra, bemorga skrining bepul.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207008"/>
            <a:ext cx="3200400" cy="3200400"/>
          </a:xfrm>
          <a:prstGeom prst="rect">
            <a:avLst/>
          </a:prstGeom>
          <a:solidFill>
            <a:srgbClr val="E7EEE6"/>
          </a:solidFill>
          <a:ln w="12700">
            <a:solidFill>
              <a:srgbClr val="D2D8CE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3200400" cy="54864"/>
          </a:xfrm>
          <a:prstGeom prst="rect">
            <a:avLst/>
          </a:prstGeom>
          <a:solidFill>
            <a:srgbClr val="6FA07E"/>
          </a:solidFill>
          <a:ln w="12700">
            <a:solidFill>
              <a:srgbClr val="6FA07E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9" name="Shape 7"/>
          <p:cNvSpPr/>
          <p:nvPr/>
        </p:nvSpPr>
        <p:spPr>
          <a:xfrm>
            <a:off x="685800" y="1920240"/>
            <a:ext cx="2743200" cy="54864"/>
          </a:xfrm>
          <a:prstGeom prst="rect">
            <a:avLst/>
          </a:prstGeom>
          <a:solidFill>
            <a:srgbClr val="6FA07E"/>
          </a:solidFill>
          <a:ln w="12700">
            <a:solidFill>
              <a:srgbClr val="6FA07E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0" name="Text 8"/>
          <p:cNvSpPr/>
          <p:nvPr/>
        </p:nvSpPr>
        <p:spPr>
          <a:xfrm>
            <a:off x="685800" y="205740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Monetizatsiya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2E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840480" y="1207008"/>
            <a:ext cx="502920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2D8C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12" name="Shape 10"/>
          <p:cNvSpPr/>
          <p:nvPr/>
        </p:nvSpPr>
        <p:spPr>
          <a:xfrm>
            <a:off x="3840480" y="1207008"/>
            <a:ext cx="54864" cy="932688"/>
          </a:xfrm>
          <a:prstGeom prst="rect">
            <a:avLst/>
          </a:prstGeom>
          <a:solidFill>
            <a:srgbClr val="6FA07E"/>
          </a:solidFill>
          <a:ln w="12700">
            <a:solidFill>
              <a:srgbClr val="6FA07E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3" name="Text 11"/>
          <p:cNvSpPr/>
          <p:nvPr/>
        </p:nvSpPr>
        <p:spPr>
          <a:xfrm>
            <a:off x="3977640" y="129844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FA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Boshlang'ich obuna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977640" y="1682496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shifokorgacha — </a:t>
            </a:r>
            <a:r>
              <a:rPr lang="en-US" sz="1150" b="1" dirty="0">
                <a:solidFill>
                  <a:srgbClr val="3E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$100/oy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6E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shifokorgacha — </a:t>
            </a:r>
            <a:r>
              <a:rPr lang="en-US" sz="1150" b="1" dirty="0">
                <a:solidFill>
                  <a:srgbClr val="3E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$500/oy</a:t>
            </a:r>
          </a:p>
        </p:txBody>
      </p:sp>
      <p:sp>
        <p:nvSpPr>
          <p:cNvPr id="15" name="Shape 13"/>
          <p:cNvSpPr/>
          <p:nvPr/>
        </p:nvSpPr>
        <p:spPr>
          <a:xfrm>
            <a:off x="3840480" y="2258568"/>
            <a:ext cx="502920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2D8C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16" name="Shape 14"/>
          <p:cNvSpPr/>
          <p:nvPr/>
        </p:nvSpPr>
        <p:spPr>
          <a:xfrm>
            <a:off x="3840480" y="2258568"/>
            <a:ext cx="54864" cy="932688"/>
          </a:xfrm>
          <a:prstGeom prst="rect">
            <a:avLst/>
          </a:prstGeom>
          <a:solidFill>
            <a:srgbClr val="6FA07E"/>
          </a:solidFill>
          <a:ln w="12700">
            <a:solidFill>
              <a:srgbClr val="6FA07E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7" name="Text 15"/>
          <p:cNvSpPr/>
          <p:nvPr/>
        </p:nvSpPr>
        <p:spPr>
          <a:xfrm>
            <a:off x="3977640" y="235000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FA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Kengaytirilgan obuna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977640" y="2734056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shifokorgacha — </a:t>
            </a:r>
            <a:r>
              <a:rPr lang="en-US" sz="1150" b="1" dirty="0">
                <a:solidFill>
                  <a:srgbClr val="3E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$1 000/oy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6E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shifokorgacha — </a:t>
            </a:r>
            <a:r>
              <a:rPr lang="en-US" sz="1150" b="1" dirty="0">
                <a:solidFill>
                  <a:srgbClr val="3E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$3 500/oy</a:t>
            </a:r>
          </a:p>
        </p:txBody>
      </p:sp>
      <p:sp>
        <p:nvSpPr>
          <p:cNvPr id="19" name="Shape 17"/>
          <p:cNvSpPr/>
          <p:nvPr/>
        </p:nvSpPr>
        <p:spPr>
          <a:xfrm>
            <a:off x="3840480" y="3310128"/>
            <a:ext cx="502920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2D8C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20" name="Shape 18"/>
          <p:cNvSpPr/>
          <p:nvPr/>
        </p:nvSpPr>
        <p:spPr>
          <a:xfrm>
            <a:off x="3840480" y="3310128"/>
            <a:ext cx="54864" cy="932688"/>
          </a:xfrm>
          <a:prstGeom prst="rect">
            <a:avLst/>
          </a:prstGeom>
          <a:solidFill>
            <a:srgbClr val="6FA07E"/>
          </a:solidFill>
          <a:ln w="12700">
            <a:solidFill>
              <a:srgbClr val="6FA07E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1" name="Text 19"/>
          <p:cNvSpPr/>
          <p:nvPr/>
        </p:nvSpPr>
        <p:spPr>
          <a:xfrm>
            <a:off x="3977640" y="340156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FA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Qo'shimcha modellar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977640" y="3785616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Skrining boshiga to'lov (klinika tanloviga ko'ra).</a:t>
            </a:r>
          </a:p>
          <a:p>
            <a:pPr marL="0" indent="0">
              <a:buNone/>
            </a:pPr>
            <a:r>
              <a:rPr lang="en-US" sz="1150" b="1" dirty="0">
                <a:solidFill>
                  <a:srgbClr val="3E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Enterprise: </a:t>
            </a:r>
            <a:r>
              <a:rPr lang="en-US" sz="1150" dirty="0">
                <a:solidFill>
                  <a:srgbClr val="6E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integratsiya, filiallar, texnik yordam.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617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6E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Bemorga skrining bepul (freemium) — pulni klinika to'laydi, chunki biz unga malakali, tayyor bemor olib kelamiz.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F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769382">
              <a:alpha val="15000"/>
            </a:srgbClr>
          </a:solidFill>
          <a:ln w="12700">
            <a:solidFill>
              <a:srgbClr val="769382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" name="Text 1"/>
          <p:cNvSpPr/>
          <p:nvPr/>
        </p:nvSpPr>
        <p:spPr>
          <a:xfrm>
            <a:off x="8321040" y="1371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7693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 — Maqsadlar va KPI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54864" cy="365760"/>
          </a:xfrm>
          <a:prstGeom prst="rect">
            <a:avLst/>
          </a:prstGeom>
          <a:solidFill>
            <a:srgbClr val="769382"/>
          </a:solidFill>
          <a:ln w="12700">
            <a:solidFill>
              <a:srgbClr val="769382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6" name="Text 4"/>
          <p:cNvSpPr/>
          <p:nvPr/>
        </p:nvSpPr>
        <p:spPr>
          <a:xfrm>
            <a:off x="594360" y="685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E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MVP'dan klinika tarmog'iga, keyin lab/klinika integratsiyasi va xalqaro bozorga.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651760"/>
            <a:ext cx="7772400" cy="36576"/>
          </a:xfrm>
          <a:prstGeom prst="rect">
            <a:avLst/>
          </a:prstGeom>
          <a:solidFill>
            <a:srgbClr val="D2D8CE"/>
          </a:solidFill>
          <a:ln w="12700">
            <a:solidFill>
              <a:srgbClr val="D2D8CE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8" name="Text 6"/>
          <p:cNvSpPr/>
          <p:nvPr/>
        </p:nvSpPr>
        <p:spPr>
          <a:xfrm>
            <a:off x="8366760" y="2514600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2514600"/>
            <a:ext cx="274320" cy="274320"/>
          </a:xfrm>
          <a:prstGeom prst="line">
            <a:avLst/>
          </a:prstGeom>
          <a:solidFill>
            <a:srgbClr val="769382"/>
          </a:solidFill>
          <a:ln w="12700">
            <a:solidFill>
              <a:srgbClr val="769382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0" name="Shape 8"/>
          <p:cNvSpPr/>
          <p:nvPr/>
        </p:nvSpPr>
        <p:spPr>
          <a:xfrm>
            <a:off x="713232" y="1874520"/>
            <a:ext cx="36576" cy="640080"/>
          </a:xfrm>
          <a:prstGeom prst="rect">
            <a:avLst/>
          </a:prstGeom>
          <a:solidFill>
            <a:srgbClr val="769382">
              <a:alpha val="60000"/>
            </a:srgbClr>
          </a:solidFill>
          <a:ln w="12700">
            <a:solidFill>
              <a:srgbClr val="76938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1" name="Shape 9"/>
          <p:cNvSpPr/>
          <p:nvPr/>
        </p:nvSpPr>
        <p:spPr>
          <a:xfrm>
            <a:off x="45720" y="1013394"/>
            <a:ext cx="1645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8CE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2" name="Shape 10"/>
          <p:cNvSpPr/>
          <p:nvPr/>
        </p:nvSpPr>
        <p:spPr>
          <a:xfrm>
            <a:off x="45720" y="1005840"/>
            <a:ext cx="1645920" cy="36576"/>
          </a:xfrm>
          <a:prstGeom prst="rect">
            <a:avLst/>
          </a:prstGeom>
          <a:solidFill>
            <a:srgbClr val="769382"/>
          </a:solidFill>
          <a:ln w="12700">
            <a:solidFill>
              <a:srgbClr val="769382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3" name="Text 11"/>
          <p:cNvSpPr/>
          <p:nvPr/>
        </p:nvSpPr>
        <p:spPr>
          <a:xfrm>
            <a:off x="-91440" y="106070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693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Hozir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-91440" y="1353312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tayyor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E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modul · 203 savol · 16 qoida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606040" y="2514600"/>
            <a:ext cx="274320" cy="274320"/>
          </a:xfrm>
          <a:prstGeom prst="line">
            <a:avLst/>
          </a:prstGeom>
          <a:solidFill>
            <a:srgbClr val="C29A4E"/>
          </a:solidFill>
          <a:ln w="12700">
            <a:solidFill>
              <a:srgbClr val="C29A4E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6" name="Shape 14"/>
          <p:cNvSpPr/>
          <p:nvPr/>
        </p:nvSpPr>
        <p:spPr>
          <a:xfrm>
            <a:off x="2724912" y="2788920"/>
            <a:ext cx="36576" cy="640080"/>
          </a:xfrm>
          <a:prstGeom prst="rect">
            <a:avLst/>
          </a:prstGeom>
          <a:solidFill>
            <a:srgbClr val="C29A4E">
              <a:alpha val="60000"/>
            </a:srgbClr>
          </a:solidFill>
          <a:ln w="12700">
            <a:solidFill>
              <a:srgbClr val="C29A4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7" name="Shape 15"/>
          <p:cNvSpPr/>
          <p:nvPr/>
        </p:nvSpPr>
        <p:spPr>
          <a:xfrm>
            <a:off x="1920240" y="3429000"/>
            <a:ext cx="1645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8CE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8" name="Shape 16"/>
          <p:cNvSpPr/>
          <p:nvPr/>
        </p:nvSpPr>
        <p:spPr>
          <a:xfrm>
            <a:off x="1920240" y="3429000"/>
            <a:ext cx="1645920" cy="36576"/>
          </a:xfrm>
          <a:prstGeom prst="rect">
            <a:avLst/>
          </a:prstGeom>
          <a:solidFill>
            <a:srgbClr val="C29A4E"/>
          </a:solidFill>
          <a:ln w="12700">
            <a:solidFill>
              <a:srgbClr val="C29A4E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9" name="Text 17"/>
          <p:cNvSpPr/>
          <p:nvPr/>
        </p:nvSpPr>
        <p:spPr>
          <a:xfrm>
            <a:off x="1920240" y="348386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29A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oy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920240" y="3776472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Web-platforma + shifokor paneli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E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 klinika · 1000+ skrining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17720" y="2514600"/>
            <a:ext cx="274320" cy="274320"/>
          </a:xfrm>
          <a:prstGeom prst="line">
            <a:avLst/>
          </a:prstGeom>
          <a:solidFill>
            <a:srgbClr val="6E94B0"/>
          </a:solidFill>
          <a:ln w="12700">
            <a:solidFill>
              <a:srgbClr val="6E94B0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2" name="Shape 20"/>
          <p:cNvSpPr/>
          <p:nvPr/>
        </p:nvSpPr>
        <p:spPr>
          <a:xfrm>
            <a:off x="4736592" y="1874520"/>
            <a:ext cx="36576" cy="640080"/>
          </a:xfrm>
          <a:prstGeom prst="rect">
            <a:avLst/>
          </a:prstGeom>
          <a:solidFill>
            <a:srgbClr val="6E94B0">
              <a:alpha val="60000"/>
            </a:srgbClr>
          </a:solidFill>
          <a:ln w="12700">
            <a:solidFill>
              <a:srgbClr val="6E94B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3" name="Shape 21"/>
          <p:cNvSpPr/>
          <p:nvPr/>
        </p:nvSpPr>
        <p:spPr>
          <a:xfrm>
            <a:off x="3931920" y="1005840"/>
            <a:ext cx="1645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8CE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4" name="Shape 22"/>
          <p:cNvSpPr/>
          <p:nvPr/>
        </p:nvSpPr>
        <p:spPr>
          <a:xfrm>
            <a:off x="3931920" y="1005840"/>
            <a:ext cx="1645920" cy="36576"/>
          </a:xfrm>
          <a:prstGeom prst="rect">
            <a:avLst/>
          </a:prstGeom>
          <a:solidFill>
            <a:srgbClr val="6E94B0"/>
          </a:solidFill>
          <a:ln w="12700">
            <a:solidFill>
              <a:srgbClr val="6E94B0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5" name="Text 23"/>
          <p:cNvSpPr/>
          <p:nvPr/>
        </p:nvSpPr>
        <p:spPr>
          <a:xfrm>
            <a:off x="3931920" y="106070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E94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yil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931920" y="1353312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klinika · 50 000+ skrining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E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Lab/klinika integratsiyasi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629400" y="2514600"/>
            <a:ext cx="274320" cy="274320"/>
          </a:xfrm>
          <a:prstGeom prst="line">
            <a:avLst/>
          </a:prstGeom>
          <a:solidFill>
            <a:srgbClr val="6FA07E"/>
          </a:solidFill>
          <a:ln w="12700">
            <a:solidFill>
              <a:srgbClr val="6FA07E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8" name="Shape 26"/>
          <p:cNvSpPr/>
          <p:nvPr/>
        </p:nvSpPr>
        <p:spPr>
          <a:xfrm>
            <a:off x="6748272" y="2788920"/>
            <a:ext cx="36576" cy="640080"/>
          </a:xfrm>
          <a:prstGeom prst="rect">
            <a:avLst/>
          </a:prstGeom>
          <a:solidFill>
            <a:srgbClr val="6FA07E">
              <a:alpha val="60000"/>
            </a:srgbClr>
          </a:solidFill>
          <a:ln w="12700">
            <a:solidFill>
              <a:srgbClr val="6FA07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9" name="Shape 27"/>
          <p:cNvSpPr/>
          <p:nvPr/>
        </p:nvSpPr>
        <p:spPr>
          <a:xfrm>
            <a:off x="5943600" y="3429000"/>
            <a:ext cx="1645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8CE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0" name="Shape 28"/>
          <p:cNvSpPr/>
          <p:nvPr/>
        </p:nvSpPr>
        <p:spPr>
          <a:xfrm>
            <a:off x="5943600" y="3429000"/>
            <a:ext cx="1645920" cy="36576"/>
          </a:xfrm>
          <a:prstGeom prst="rect">
            <a:avLst/>
          </a:prstGeom>
          <a:solidFill>
            <a:srgbClr val="6FA07E"/>
          </a:solidFill>
          <a:ln w="12700">
            <a:solidFill>
              <a:srgbClr val="6FA07E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1" name="Text 29"/>
          <p:cNvSpPr/>
          <p:nvPr/>
        </p:nvSpPr>
        <p:spPr>
          <a:xfrm>
            <a:off x="5943600" y="348386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FA0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yil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943600" y="3776472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Umumiy salomatlik AI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E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Xalqaro bozorga chiqish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4617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6E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MVP'dan boshlab, bosqichma-bosqich klinika tarmog'i va global salomatlik platformasiga.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F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769382">
              <a:alpha val="15000"/>
            </a:srgbClr>
          </a:solidFill>
          <a:ln w="12700">
            <a:solidFill>
              <a:srgbClr val="769382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" name="Text 1"/>
          <p:cNvSpPr/>
          <p:nvPr/>
        </p:nvSpPr>
        <p:spPr>
          <a:xfrm>
            <a:off x="8321040" y="1371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7693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54864" cy="365760"/>
          </a:xfrm>
          <a:prstGeom prst="rect">
            <a:avLst/>
          </a:prstGeom>
          <a:solidFill>
            <a:srgbClr val="769382"/>
          </a:solidFill>
          <a:ln w="12700">
            <a:solidFill>
              <a:srgbClr val="769382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6" name="Text 4"/>
          <p:cNvSpPr/>
          <p:nvPr/>
        </p:nvSpPr>
        <p:spPr>
          <a:xfrm>
            <a:off x="594360" y="685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E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To'rt kishilik jamoa — har biri aniq rol bilan.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207008"/>
            <a:ext cx="20116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8C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Z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2011680" cy="45720"/>
          </a:xfrm>
          <a:prstGeom prst="rect">
            <a:avLst/>
          </a:prstGeom>
          <a:solidFill>
            <a:srgbClr val="769382"/>
          </a:solidFill>
          <a:ln w="12700">
            <a:solidFill>
              <a:srgbClr val="769382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0" name="Text 8"/>
          <p:cNvSpPr/>
          <p:nvPr/>
        </p:nvSpPr>
        <p:spPr>
          <a:xfrm>
            <a:off x="1005840" y="13716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👤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48640" y="2423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yetakchisi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7614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69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· Pitch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127248"/>
            <a:ext cx="1463040" cy="18288"/>
          </a:xfrm>
          <a:prstGeom prst="rect">
            <a:avLst/>
          </a:prstGeom>
          <a:solidFill>
            <a:srgbClr val="D2D8CE"/>
          </a:solidFill>
          <a:ln w="12700">
            <a:solidFill>
              <a:srgbClr val="D2D8CE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4" name="Text 12"/>
          <p:cNvSpPr/>
          <p:nvPr/>
        </p:nvSpPr>
        <p:spPr>
          <a:xfrm>
            <a:off x="548640" y="321868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E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Mahsulot, taqdimot, boshqaruv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8640" y="37490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Allayev Muhammad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633472" y="1207008"/>
            <a:ext cx="20116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8C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17" name="Shape 15"/>
          <p:cNvSpPr/>
          <p:nvPr/>
        </p:nvSpPr>
        <p:spPr>
          <a:xfrm>
            <a:off x="2633472" y="1207008"/>
            <a:ext cx="2011680" cy="45720"/>
          </a:xfrm>
          <a:prstGeom prst="rect">
            <a:avLst/>
          </a:prstGeom>
          <a:solidFill>
            <a:srgbClr val="6E94B0"/>
          </a:solidFill>
          <a:ln w="12700">
            <a:solidFill>
              <a:srgbClr val="6E94B0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9" name="Text 17"/>
          <p:cNvSpPr/>
          <p:nvPr/>
        </p:nvSpPr>
        <p:spPr>
          <a:xfrm>
            <a:off x="3182112" y="13716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💻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2724912" y="2423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/ AI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724912" y="27614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Bosh dasturchi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907792" y="3127248"/>
            <a:ext cx="1463040" cy="18288"/>
          </a:xfrm>
          <a:prstGeom prst="rect">
            <a:avLst/>
          </a:prstGeom>
          <a:solidFill>
            <a:srgbClr val="D2D8CE"/>
          </a:solidFill>
          <a:ln w="12700">
            <a:solidFill>
              <a:srgbClr val="D2D8CE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3" name="Text 21"/>
          <p:cNvSpPr/>
          <p:nvPr/>
        </p:nvSpPr>
        <p:spPr>
          <a:xfrm>
            <a:off x="2724912" y="321868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E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API va AI modelni ulash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724912" y="37490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 err="1">
                <a:solidFill>
                  <a:srgbClr val="6E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Sangilov</a:t>
            </a:r>
            <a:r>
              <a:rPr lang="en-US" sz="900" dirty="0">
                <a:solidFill>
                  <a:srgbClr val="6E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6E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Umidjon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09744" y="1207008"/>
            <a:ext cx="20116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8C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26" name="Shape 24"/>
          <p:cNvSpPr/>
          <p:nvPr/>
        </p:nvSpPr>
        <p:spPr>
          <a:xfrm>
            <a:off x="4809744" y="1207008"/>
            <a:ext cx="2011680" cy="45720"/>
          </a:xfrm>
          <a:prstGeom prst="rect">
            <a:avLst/>
          </a:prstGeom>
          <a:solidFill>
            <a:srgbClr val="9180AE"/>
          </a:solidFill>
          <a:ln w="12700">
            <a:solidFill>
              <a:srgbClr val="9180AE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8" name="Text 26"/>
          <p:cNvSpPr/>
          <p:nvPr/>
        </p:nvSpPr>
        <p:spPr>
          <a:xfrm>
            <a:off x="5358384" y="13716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🎨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4901184" y="2423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901184" y="27614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18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Interfeys (React)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084064" y="3127248"/>
            <a:ext cx="1463040" cy="18288"/>
          </a:xfrm>
          <a:prstGeom prst="rect">
            <a:avLst/>
          </a:prstGeom>
          <a:solidFill>
            <a:srgbClr val="D2D8CE"/>
          </a:solidFill>
          <a:ln w="12700">
            <a:solidFill>
              <a:srgbClr val="D2D8CE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2" name="Text 30"/>
          <p:cNvSpPr/>
          <p:nvPr/>
        </p:nvSpPr>
        <p:spPr>
          <a:xfrm>
            <a:off x="4901184" y="321868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E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Rasm yuklash va natija ekrani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901184" y="37490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 err="1">
                <a:solidFill>
                  <a:srgbClr val="6E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Sodiqov</a:t>
            </a:r>
            <a:r>
              <a:rPr lang="en-US" sz="900" dirty="0">
                <a:solidFill>
                  <a:srgbClr val="6E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6E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Diyorbek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986016" y="1207008"/>
            <a:ext cx="20116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8C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35" name="Shape 33"/>
          <p:cNvSpPr/>
          <p:nvPr/>
        </p:nvSpPr>
        <p:spPr>
          <a:xfrm>
            <a:off x="6986016" y="1207008"/>
            <a:ext cx="2011680" cy="45720"/>
          </a:xfrm>
          <a:prstGeom prst="rect">
            <a:avLst/>
          </a:prstGeom>
          <a:solidFill>
            <a:srgbClr val="6FA07E"/>
          </a:solidFill>
          <a:ln w="12700">
            <a:solidFill>
              <a:srgbClr val="6FA07E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7" name="Text 35"/>
          <p:cNvSpPr/>
          <p:nvPr/>
        </p:nvSpPr>
        <p:spPr>
          <a:xfrm>
            <a:off x="7534656" y="13716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7077456" y="2423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&amp; Himoya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077456" y="27614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FA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Tashkilotchi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260336" y="3127248"/>
            <a:ext cx="1463040" cy="18288"/>
          </a:xfrm>
          <a:prstGeom prst="rect">
            <a:avLst/>
          </a:prstGeom>
          <a:solidFill>
            <a:srgbClr val="D2D8CE"/>
          </a:solidFill>
          <a:ln w="12700">
            <a:solidFill>
              <a:srgbClr val="D2D8CE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1" name="Text 39"/>
          <p:cNvSpPr/>
          <p:nvPr/>
        </p:nvSpPr>
        <p:spPr>
          <a:xfrm>
            <a:off x="7077456" y="321868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E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Dalil, slaydlar, demo ssenariysi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077456" y="37490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 err="1">
                <a:solidFill>
                  <a:srgbClr val="6E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Asqarov</a:t>
            </a:r>
            <a:r>
              <a:rPr lang="en-US" sz="900" dirty="0">
                <a:solidFill>
                  <a:srgbClr val="6E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6E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Fazliddin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1F7DCEC-B05F-407E-AFCE-A80E57B5A20E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0a351427-c575-41da-a423-b4cb6ab66b9e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602</Words>
  <Application>Microsoft Office PowerPoint</Application>
  <PresentationFormat>Экран (16:9)</PresentationFormat>
  <Paragraphs>124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Pitch Day Taqdimot Shabloni — AI Hackathon</dc:title>
  <dc:subject>PptxGenJS Presentation</dc:subject>
  <dc:creator>PptxGenJS</dc:creator>
  <cp:lastModifiedBy>Muhammad Allayev</cp:lastModifiedBy>
  <cp:revision>11</cp:revision>
  <dcterms:created xsi:type="dcterms:W3CDTF">2026-03-30T19:38:21Z</dcterms:created>
  <dcterms:modified xsi:type="dcterms:W3CDTF">2026-06-27T10:23:15Z</dcterms:modified>
</cp:coreProperties>
</file>